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df" ContentType="application/pd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259" r:id="rId2"/>
    <p:sldId id="287" r:id="rId3"/>
    <p:sldId id="272" r:id="rId4"/>
    <p:sldId id="273" r:id="rId5"/>
    <p:sldId id="274" r:id="rId6"/>
    <p:sldId id="276" r:id="rId7"/>
    <p:sldId id="277" r:id="rId8"/>
    <p:sldId id="278" r:id="rId9"/>
    <p:sldId id="279" r:id="rId10"/>
    <p:sldId id="280" r:id="rId11"/>
    <p:sldId id="27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000000"/>
    <a:srgbClr val="990000"/>
    <a:srgbClr val="FFCC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ADA05C-8384-BF1E-1803-A0B9B3875A13}" v="11" dt="2023-01-26T23:40:41.746"/>
    <p1510:client id="{E749EDBB-CFB2-907C-9BDB-7D64154ECCE7}" v="3" dt="2022-09-16T07:43:10.1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50" autoAdjust="0"/>
    <p:restoredTop sz="94660"/>
  </p:normalViewPr>
  <p:slideViewPr>
    <p:cSldViewPr snapToGrid="0" snapToObjects="1">
      <p:cViewPr varScale="1">
        <p:scale>
          <a:sx n="118" d="100"/>
          <a:sy n="118" d="100"/>
        </p:scale>
        <p:origin x="1472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03CB9-7C4B-40AF-870A-63F8A2193CB1}" type="datetimeFigureOut">
              <a:rPr lang="en-US" smtClean="0"/>
              <a:t>1/29/26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BA2030-37B7-4480-B699-2F506758A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647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A2030-37B7-4480-B699-2F506758AC9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122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df"/><Relationship Id="rId12" Type="http://schemas.openxmlformats.org/officeDocument/2006/relationships/image" Target="../media/image3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4.pdf"/><Relationship Id="rId10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2.pd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5803900"/>
            <a:ext cx="9144000" cy="10527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 flipV="1">
            <a:off x="0" y="5778500"/>
            <a:ext cx="9144000" cy="508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Small Use Shield_GoldOnTrans.eps"/>
          <p:cNvPicPr>
            <a:picLocks noChangeAspect="1"/>
          </p:cNvPicPr>
          <p:nvPr userDrawn="1"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8201027" y="238127"/>
            <a:ext cx="748239" cy="748239"/>
          </a:xfrm>
          <a:prstGeom prst="rect">
            <a:avLst/>
          </a:prstGeom>
        </p:spPr>
      </p:pic>
      <p:pic>
        <p:nvPicPr>
          <p:cNvPr id="9" name="Picture 8" descr="1-lineWordmark_GoldOnCard_NoBG.eps"/>
          <p:cNvPicPr>
            <a:picLocks noChangeAspect="1"/>
          </p:cNvPicPr>
          <p:nvPr userDrawn="1"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9"/>
              <a:stretch>
                <a:fillRect/>
              </a:stretch>
            </p:blipFill>
          </mc:Choice>
          <mc:Fallback>
            <p:blipFill>
              <a:blip r:embed="rId10"/>
              <a:stretch>
                <a:fillRect/>
              </a:stretch>
            </p:blipFill>
          </mc:Fallback>
        </mc:AlternateContent>
        <p:spPr>
          <a:xfrm>
            <a:off x="6997700" y="6462029"/>
            <a:ext cx="1822126" cy="154821"/>
          </a:xfrm>
          <a:prstGeom prst="rect">
            <a:avLst/>
          </a:prstGeom>
        </p:spPr>
      </p:pic>
      <p:pic>
        <p:nvPicPr>
          <p:cNvPr id="12" name="Picture 11" descr="Formal_Viterbi_GoldOnCard_NoBG.eps"/>
          <p:cNvPicPr>
            <a:picLocks noChangeAspect="1"/>
          </p:cNvPicPr>
          <p:nvPr userDrawn="1"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11"/>
              <a:stretch>
                <a:fillRect/>
              </a:stretch>
            </p:blipFill>
          </mc:Choice>
          <mc:Fallback>
            <p:blipFill>
              <a:blip r:embed="rId12"/>
              <a:stretch>
                <a:fillRect/>
              </a:stretch>
            </p:blipFill>
          </mc:Fallback>
        </mc:AlternateContent>
        <p:spPr>
          <a:xfrm>
            <a:off x="292102" y="6138309"/>
            <a:ext cx="1741688" cy="4700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7350" y="1338793"/>
            <a:ext cx="9129299" cy="2200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u="none" strike="noStrike" kern="120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EE557 Computer Systems Architecture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dirty="0">
                <a:solidFill>
                  <a:srgbClr val="990000"/>
                </a:solidFill>
                <a:latin typeface="Arial"/>
                <a:ea typeface="宋体"/>
                <a:cs typeface="Arial"/>
              </a:rPr>
              <a:t>Spring 2026</a:t>
            </a:r>
            <a:br>
              <a:rPr kumimoji="0" lang="en-US" sz="4400" u="none" strike="noStrike" kern="120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</a:br>
            <a:r>
              <a:rPr kumimoji="0" lang="en-US" altLang="zh-CN" sz="2750" u="none" strike="noStrike" kern="120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Arial"/>
                <a:ea typeface="宋体"/>
                <a:cs typeface="Arial"/>
              </a:rPr>
              <a:t>Discussion Week 3</a:t>
            </a:r>
            <a:endParaRPr kumimoji="0" lang="en-US" sz="2750" u="none" strike="noStrike" kern="1200" cap="none" spc="0" normalizeH="0" baseline="0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Arial"/>
              <a:ea typeface="宋体"/>
              <a:cs typeface="Arial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7349" y="3390899"/>
            <a:ext cx="9129299" cy="7493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US" sz="2400" i="1" dirty="0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Jonghyun</a:t>
            </a:r>
            <a:r>
              <a:rPr lang="en-US" sz="2400" i="1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 Lee </a:t>
            </a:r>
            <a:endParaRPr kumimoji="0" lang="en-US" sz="2400" i="1" u="none" strike="noStrike" kern="1200" cap="none" spc="0" normalizeH="0" baseline="0" noProof="0" dirty="0" err="1">
              <a:solidFill>
                <a:schemeClr val="bg2">
                  <a:lumMod val="10000"/>
                </a:schemeClr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70743" y="2474624"/>
            <a:ext cx="60025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sz="4400" dirty="0">
                <a:solidFill>
                  <a:schemeClr val="bg2">
                    <a:lumMod val="10000"/>
                  </a:schemeClr>
                </a:solidFill>
                <a:latin typeface="+mj-lt"/>
                <a:cs typeface="Arial"/>
              </a:rPr>
              <a:t>S</a:t>
            </a:r>
            <a:r>
              <a:rPr lang="en-US" altLang="zh-CN" sz="4400" dirty="0">
                <a:solidFill>
                  <a:schemeClr val="bg2">
                    <a:lumMod val="10000"/>
                  </a:schemeClr>
                </a:solidFill>
                <a:latin typeface="+mj-lt"/>
                <a:cs typeface="Arial"/>
              </a:rPr>
              <a:t>imulation Assignment 1</a:t>
            </a:r>
            <a:endParaRPr lang="en-US" sz="4400" dirty="0">
              <a:solidFill>
                <a:schemeClr val="bg2">
                  <a:lumMod val="10000"/>
                </a:schemeClr>
              </a:solidFill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63878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CFEB4-7E85-85C5-E464-735A13629BDC}"/>
              </a:ext>
            </a:extLst>
          </p:cNvPr>
          <p:cNvSpPr txBox="1">
            <a:spLocks/>
          </p:cNvSpPr>
          <p:nvPr/>
        </p:nvSpPr>
        <p:spPr>
          <a:xfrm>
            <a:off x="152400" y="242636"/>
            <a:ext cx="6858000" cy="762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/>
              <a:t>Branch Predictors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C537A-C643-66B9-C55C-75DFE8A33051}"/>
              </a:ext>
            </a:extLst>
          </p:cNvPr>
          <p:cNvSpPr txBox="1">
            <a:spLocks/>
          </p:cNvSpPr>
          <p:nvPr/>
        </p:nvSpPr>
        <p:spPr>
          <a:xfrm>
            <a:off x="228600" y="1004636"/>
            <a:ext cx="8686800" cy="5319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000000"/>
                </a:solidFill>
              </a:rPr>
              <a:t>A branch predictor tries to guess the next instruction for a branch before the branch is resolved. The purpose of the branch predictor is to improve the flow in the pipeline. </a:t>
            </a:r>
          </a:p>
          <a:p>
            <a:endParaRPr lang="en-US" sz="2000" dirty="0">
              <a:solidFill>
                <a:srgbClr val="000000"/>
              </a:solidFill>
            </a:endParaRPr>
          </a:p>
          <a:p>
            <a:r>
              <a:rPr lang="en-US" sz="2000" dirty="0">
                <a:solidFill>
                  <a:srgbClr val="000000"/>
                </a:solidFill>
              </a:rPr>
              <a:t>In the project, you are going to implement various branch predictors. One static branch predictor and three dynamic branch predictors are shown below</a:t>
            </a:r>
          </a:p>
          <a:p>
            <a:pPr lvl="1"/>
            <a:r>
              <a:rPr lang="en-US" sz="1800" dirty="0">
                <a:solidFill>
                  <a:srgbClr val="000000"/>
                </a:solidFill>
              </a:rPr>
              <a:t>a) Always Taken</a:t>
            </a:r>
          </a:p>
          <a:p>
            <a:pPr lvl="1"/>
            <a:r>
              <a:rPr lang="en-US" sz="1800" dirty="0">
                <a:solidFill>
                  <a:srgbClr val="000000"/>
                </a:solidFill>
              </a:rPr>
              <a:t>b) 2-bit Global (00, 01 = untaken, 10,11 = taken; one SBP for all, Figure 1)</a:t>
            </a:r>
          </a:p>
          <a:p>
            <a:pPr lvl="1"/>
            <a:r>
              <a:rPr lang="en-US" sz="1800" dirty="0">
                <a:solidFill>
                  <a:srgbClr val="000000"/>
                </a:solidFill>
              </a:rPr>
              <a:t>c) 2-bit Bimodal</a:t>
            </a:r>
          </a:p>
          <a:p>
            <a:pPr lvl="1"/>
            <a:r>
              <a:rPr lang="en-US" sz="1800" dirty="0">
                <a:solidFill>
                  <a:srgbClr val="000000"/>
                </a:solidFill>
              </a:rPr>
              <a:t>d) 2-bit Correlated</a:t>
            </a:r>
          </a:p>
        </p:txBody>
      </p:sp>
    </p:spTree>
    <p:extLst>
      <p:ext uri="{BB962C8B-B14F-4D97-AF65-F5344CB8AC3E}">
        <p14:creationId xmlns:p14="http://schemas.microsoft.com/office/powerpoint/2010/main" val="438030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10B339-9A5D-2FAF-3229-58D21180A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594" y="2939357"/>
            <a:ext cx="7976527" cy="1752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D1A691-5389-FC78-A80E-F8245AE5BD49}"/>
              </a:ext>
            </a:extLst>
          </p:cNvPr>
          <p:cNvSpPr txBox="1">
            <a:spLocks/>
          </p:cNvSpPr>
          <p:nvPr/>
        </p:nvSpPr>
        <p:spPr>
          <a:xfrm>
            <a:off x="152400" y="152400"/>
            <a:ext cx="6858000" cy="762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/>
              <a:t>Branch Predictors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0768E-AF23-1B89-7721-94C1FF4D69E0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8686800" cy="541020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000000"/>
                </a:solidFill>
              </a:rPr>
              <a:t>2-bit Saturating Branch Predictor (SBP)</a:t>
            </a:r>
          </a:p>
          <a:p>
            <a:pPr lvl="1"/>
            <a:r>
              <a:rPr lang="en-US" sz="1800" dirty="0">
                <a:solidFill>
                  <a:srgbClr val="000000"/>
                </a:solidFill>
              </a:rPr>
              <a:t>If taken, increment</a:t>
            </a:r>
          </a:p>
          <a:p>
            <a:pPr lvl="1"/>
            <a:r>
              <a:rPr lang="en-US" sz="1800" dirty="0">
                <a:solidFill>
                  <a:srgbClr val="000000"/>
                </a:solidFill>
              </a:rPr>
              <a:t>If not taken, decrement</a:t>
            </a:r>
          </a:p>
          <a:p>
            <a:pPr lvl="1"/>
            <a:r>
              <a:rPr lang="en-US" sz="1800" dirty="0">
                <a:solidFill>
                  <a:srgbClr val="000000"/>
                </a:solidFill>
              </a:rPr>
              <a:t>Until saturation</a:t>
            </a:r>
          </a:p>
          <a:p>
            <a:pPr lvl="1"/>
            <a:r>
              <a:rPr lang="en-US" sz="1800" dirty="0">
                <a:solidFill>
                  <a:srgbClr val="000000"/>
                </a:solidFill>
              </a:rPr>
              <a:t>00, 01: predicted untaken</a:t>
            </a:r>
          </a:p>
          <a:p>
            <a:pPr lvl="1"/>
            <a:r>
              <a:rPr lang="en-US" sz="1800" dirty="0">
                <a:solidFill>
                  <a:srgbClr val="000000"/>
                </a:solidFill>
              </a:rPr>
              <a:t>10, 11: predicted taken</a:t>
            </a:r>
          </a:p>
          <a:p>
            <a:pPr lvl="1"/>
            <a:endParaRPr lang="en-US" sz="1800" dirty="0">
              <a:solidFill>
                <a:srgbClr val="000000"/>
              </a:solidFill>
            </a:endParaRPr>
          </a:p>
          <a:p>
            <a:pPr lvl="1"/>
            <a:endParaRPr lang="en-US" sz="1800" dirty="0">
              <a:solidFill>
                <a:srgbClr val="000000"/>
              </a:solidFill>
            </a:endParaRPr>
          </a:p>
          <a:p>
            <a:pPr lvl="1"/>
            <a:endParaRPr lang="en-US" sz="1800" dirty="0">
              <a:solidFill>
                <a:srgbClr val="000000"/>
              </a:solidFill>
            </a:endParaRPr>
          </a:p>
          <a:p>
            <a:pPr lvl="1"/>
            <a:endParaRPr lang="en-US" sz="1800" dirty="0">
              <a:solidFill>
                <a:srgbClr val="000000"/>
              </a:solidFill>
            </a:endParaRPr>
          </a:p>
          <a:p>
            <a:pPr marL="457200" lvl="1" indent="0"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r>
              <a:rPr lang="en-US" sz="1800" b="1" dirty="0"/>
              <a:t>(a) always taken predictor</a:t>
            </a:r>
            <a:r>
              <a:rPr lang="en-US" sz="1800" dirty="0">
                <a:solidFill>
                  <a:srgbClr val="000000"/>
                </a:solidFill>
              </a:rPr>
              <a:t>, all branches are always predicted taken statically.</a:t>
            </a:r>
          </a:p>
          <a:p>
            <a:r>
              <a:rPr lang="en-US" sz="1800" b="1" dirty="0"/>
              <a:t>(b) 2-bit global predictor</a:t>
            </a:r>
            <a:r>
              <a:rPr lang="en-US" sz="1800" dirty="0">
                <a:solidFill>
                  <a:srgbClr val="000000"/>
                </a:solidFill>
              </a:rPr>
              <a:t>, one 2-bit SBP is used to predict all branch instructions without separate branch history buffers.</a:t>
            </a:r>
          </a:p>
          <a:p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4450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0BF06C2-8F3B-3D6E-D6A9-012A429945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656"/>
          <a:stretch/>
        </p:blipFill>
        <p:spPr>
          <a:xfrm>
            <a:off x="5949260" y="152400"/>
            <a:ext cx="3128682" cy="26293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64F6F23-D357-39E2-D615-1F9DD3AA4E06}"/>
              </a:ext>
            </a:extLst>
          </p:cNvPr>
          <p:cNvSpPr txBox="1">
            <a:spLocks/>
          </p:cNvSpPr>
          <p:nvPr/>
        </p:nvSpPr>
        <p:spPr>
          <a:xfrm>
            <a:off x="152400" y="152400"/>
            <a:ext cx="6858000" cy="762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/>
              <a:t>Branch Predictors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35CE0FF-82FB-B24B-C0C6-0EAB0D27012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8600" y="914400"/>
                <a:ext cx="5638800" cy="5410200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000" b="1" dirty="0"/>
                  <a:t>(c) Bimodal predictor</a:t>
                </a:r>
                <a:r>
                  <a:rPr lang="en-US" sz="2000" dirty="0">
                    <a:solidFill>
                      <a:srgbClr val="000000"/>
                    </a:solidFill>
                  </a:rPr>
                  <a:t>, 2-bit SBP is indexed by the branch PC as shown in Figure 2</a:t>
                </a:r>
              </a:p>
              <a:p>
                <a:pPr lvl="1"/>
                <a:r>
                  <a:rPr lang="en-US" sz="1800" dirty="0">
                    <a:solidFill>
                      <a:srgbClr val="000000"/>
                    </a:solidFill>
                  </a:rPr>
                  <a:t>Using M-bit of PC to index the SBP entries</a:t>
                </a:r>
              </a:p>
              <a:p>
                <a:pPr lvl="1"/>
                <a:r>
                  <a:rPr lang="en-US" sz="1800" dirty="0">
                    <a:solidFill>
                      <a:srgbClr val="000000"/>
                    </a:solidFill>
                  </a:rPr>
                  <a:t>2-bit SBP in each entry</a:t>
                </a:r>
              </a:p>
              <a:p>
                <a:pPr lvl="1"/>
                <a:r>
                  <a:rPr lang="en-US" sz="1800" dirty="0">
                    <a:solidFill>
                      <a:srgbClr val="000000"/>
                    </a:solidFill>
                  </a:rPr>
                  <a:t>Totally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rgbClr val="000000"/>
                    </a:solidFill>
                  </a:rPr>
                  <a:t> table size</a:t>
                </a:r>
              </a:p>
              <a:p>
                <a:endParaRPr lang="en-US" sz="2000" dirty="0">
                  <a:solidFill>
                    <a:srgbClr val="000000"/>
                  </a:solidFill>
                </a:endParaRPr>
              </a:p>
              <a:p>
                <a:r>
                  <a:rPr lang="en-US" sz="2000" b="1" dirty="0"/>
                  <a:t>(d) Correlated branch predictor </a:t>
                </a:r>
                <a:r>
                  <a:rPr lang="en-US" sz="2000" dirty="0">
                    <a:solidFill>
                      <a:srgbClr val="000000"/>
                    </a:solidFill>
                  </a:rPr>
                  <a:t>uses both branch PC and recent branches pattern to index the branch prediction buffer.</a:t>
                </a:r>
              </a:p>
              <a:p>
                <a:pPr lvl="1"/>
                <a:r>
                  <a:rPr lang="en-US" sz="1800" dirty="0">
                    <a:solidFill>
                      <a:srgbClr val="000000"/>
                    </a:solidFill>
                  </a:rPr>
                  <a:t>M-bit global branch history register</a:t>
                </a:r>
              </a:p>
              <a:p>
                <a:pPr lvl="2"/>
                <a:r>
                  <a:rPr lang="en-US" sz="1600" dirty="0">
                    <a:solidFill>
                      <a:srgbClr val="000000"/>
                    </a:solidFill>
                  </a:rPr>
                  <a:t>a left-shift register which shifts in the most recently branch result ([</a:t>
                </a:r>
                <a:r>
                  <a:rPr lang="en-US" sz="1600" dirty="0">
                    <a:solidFill>
                      <a:srgbClr val="000000"/>
                    </a:solidFill>
                    <a:sym typeface="Wingdings" panose="05000000000000000000" pitchFamily="2" charset="2"/>
                  </a:rPr>
                  <a:t></a:t>
                </a:r>
                <a:r>
                  <a:rPr lang="en-US" sz="1600" dirty="0">
                    <a:solidFill>
                      <a:srgbClr val="000000"/>
                    </a:solidFill>
                  </a:rPr>
                  <a:t>100101</a:t>
                </a:r>
                <a:r>
                  <a:rPr lang="en-US" sz="1600" dirty="0">
                    <a:solidFill>
                      <a:srgbClr val="000000"/>
                    </a:solidFill>
                    <a:sym typeface="Wingdings" panose="05000000000000000000" pitchFamily="2" charset="2"/>
                  </a:rPr>
                  <a:t>])</a:t>
                </a:r>
              </a:p>
              <a:p>
                <a:pPr lvl="1"/>
                <a:r>
                  <a:rPr lang="en-US" sz="1800" dirty="0">
                    <a:solidFill>
                      <a:srgbClr val="000000"/>
                    </a:solidFill>
                  </a:rPr>
                  <a:t>last significant P bit in branch PC </a:t>
                </a:r>
              </a:p>
              <a:p>
                <a:pPr lvl="1"/>
                <a:r>
                  <a:rPr lang="en-US" sz="1800" dirty="0">
                    <a:solidFill>
                      <a:srgbClr val="000000"/>
                    </a:solidFill>
                  </a:rPr>
                  <a:t>concatenated to index the branch prediction buffer.</a:t>
                </a:r>
              </a:p>
              <a:p>
                <a:pPr lvl="2"/>
                <a:endParaRPr lang="en-US" sz="16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35CE0FF-82FB-B24B-C0C6-0EAB0D2701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914400"/>
                <a:ext cx="5638800" cy="5410200"/>
              </a:xfrm>
              <a:prstGeom prst="rect">
                <a:avLst/>
              </a:prstGeom>
              <a:blipFill>
                <a:blip r:embed="rId3"/>
                <a:stretch>
                  <a:fillRect l="-1124" t="-703" r="-17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B9E1700-3884-FD21-B07E-28FC998E4E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3471" y="2953471"/>
            <a:ext cx="3158811" cy="278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22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17EF4-9337-1403-3A3A-582B1F2463C3}"/>
              </a:ext>
            </a:extLst>
          </p:cNvPr>
          <p:cNvSpPr txBox="1">
            <a:spLocks/>
          </p:cNvSpPr>
          <p:nvPr/>
        </p:nvSpPr>
        <p:spPr>
          <a:xfrm>
            <a:off x="152400" y="152400"/>
            <a:ext cx="6858000" cy="762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2E23A-D29B-F1DE-2A16-610753A1FE56}"/>
              </a:ext>
            </a:extLst>
          </p:cNvPr>
          <p:cNvSpPr txBox="1">
            <a:spLocks/>
          </p:cNvSpPr>
          <p:nvPr/>
        </p:nvSpPr>
        <p:spPr>
          <a:xfrm>
            <a:off x="228600" y="723900"/>
            <a:ext cx="8686800" cy="541020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000000"/>
                </a:solidFill>
              </a:rPr>
              <a:t>P1 folder:</a:t>
            </a:r>
          </a:p>
          <a:p>
            <a:pPr lvl="1"/>
            <a:r>
              <a:rPr lang="en-US" sz="1800" dirty="0" err="1">
                <a:solidFill>
                  <a:srgbClr val="000000"/>
                </a:solidFill>
              </a:rPr>
              <a:t>bimodal.H</a:t>
            </a:r>
            <a:r>
              <a:rPr lang="en-US" sz="1800" dirty="0">
                <a:solidFill>
                  <a:srgbClr val="000000"/>
                </a:solidFill>
              </a:rPr>
              <a:t>  bpred.cpp  </a:t>
            </a:r>
            <a:r>
              <a:rPr lang="en-US" sz="1800" dirty="0" err="1">
                <a:solidFill>
                  <a:srgbClr val="000000"/>
                </a:solidFill>
              </a:rPr>
              <a:t>makefile</a:t>
            </a:r>
            <a:r>
              <a:rPr lang="en-US" sz="1800" dirty="0">
                <a:solidFill>
                  <a:srgbClr val="000000"/>
                </a:solidFill>
              </a:rPr>
              <a:t>  </a:t>
            </a:r>
            <a:r>
              <a:rPr lang="en-US" sz="1800" dirty="0" err="1">
                <a:solidFill>
                  <a:srgbClr val="000000"/>
                </a:solidFill>
              </a:rPr>
              <a:t>makefile.rules</a:t>
            </a:r>
            <a:endParaRPr lang="en-US" sz="1800" dirty="0">
              <a:solidFill>
                <a:srgbClr val="000000"/>
              </a:solidFill>
            </a:endParaRPr>
          </a:p>
          <a:p>
            <a:pPr lvl="1"/>
            <a:r>
              <a:rPr lang="en-US" sz="1800" dirty="0">
                <a:solidFill>
                  <a:srgbClr val="000000"/>
                </a:solidFill>
              </a:rPr>
              <a:t>Sample code for a bimodal predictor is provided</a:t>
            </a:r>
          </a:p>
          <a:p>
            <a:pPr lvl="1"/>
            <a:r>
              <a:rPr lang="en-US" sz="1800" dirty="0">
                <a:solidFill>
                  <a:srgbClr val="000000"/>
                </a:solidFill>
              </a:rPr>
              <a:t>make </a:t>
            </a:r>
            <a:r>
              <a:rPr lang="en-US" sz="1800" dirty="0" err="1">
                <a:solidFill>
                  <a:srgbClr val="000000"/>
                </a:solidFill>
              </a:rPr>
              <a:t>bpred.test</a:t>
            </a:r>
            <a:endParaRPr lang="en-US" sz="1800" dirty="0">
              <a:solidFill>
                <a:srgbClr val="000000"/>
              </a:solidFill>
            </a:endParaRPr>
          </a:p>
          <a:p>
            <a:r>
              <a:rPr lang="en-US" sz="2000" dirty="0">
                <a:solidFill>
                  <a:srgbClr val="000000"/>
                </a:solidFill>
              </a:rPr>
              <a:t>benchmarking the branch predictors using the “tar” program:</a:t>
            </a:r>
          </a:p>
          <a:p>
            <a:pPr lvl="1"/>
            <a:r>
              <a:rPr lang="en-US" sz="1800" dirty="0">
                <a:solidFill>
                  <a:srgbClr val="000000"/>
                </a:solidFill>
              </a:rPr>
              <a:t>pin -t bpred.so -- tar </a:t>
            </a:r>
            <a:r>
              <a:rPr lang="en-US" sz="1800" b="1" dirty="0">
                <a:solidFill>
                  <a:srgbClr val="000000"/>
                </a:solidFill>
              </a:rPr>
              <a:t>-</a:t>
            </a:r>
            <a:r>
              <a:rPr lang="en-US" sz="1800" b="1" dirty="0" err="1">
                <a:solidFill>
                  <a:srgbClr val="C00000"/>
                </a:solidFill>
              </a:rPr>
              <a:t>czPf</a:t>
            </a:r>
            <a:r>
              <a:rPr lang="en-US" sz="1800" b="1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000000"/>
                </a:solidFill>
              </a:rPr>
              <a:t>/home/ee557/Desktop/P0/pin.tar.gz /home/ee557/Desktop/P0/pin-3.17-98314-g0c048d619-gcc-linux</a:t>
            </a:r>
          </a:p>
          <a:p>
            <a:endParaRPr lang="en-US" sz="2000" dirty="0">
              <a:solidFill>
                <a:srgbClr val="00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90B92F-C694-063E-2161-962DEE556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610" y="3155587"/>
            <a:ext cx="5042779" cy="281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69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FB52F-5EF5-D4D0-D7E5-5C2D5F4A0449}"/>
              </a:ext>
            </a:extLst>
          </p:cNvPr>
          <p:cNvSpPr txBox="1">
            <a:spLocks/>
          </p:cNvSpPr>
          <p:nvPr/>
        </p:nvSpPr>
        <p:spPr>
          <a:xfrm>
            <a:off x="152400" y="152400"/>
            <a:ext cx="6858000" cy="762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/>
              <a:t>S</a:t>
            </a:r>
            <a:r>
              <a:rPr lang="en-US" altLang="zh-CN" sz="3200" dirty="0"/>
              <a:t>ample Code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89741-BAF8-D38B-370E-0B630351609B}"/>
              </a:ext>
            </a:extLst>
          </p:cNvPr>
          <p:cNvSpPr txBox="1">
            <a:spLocks/>
          </p:cNvSpPr>
          <p:nvPr/>
        </p:nvSpPr>
        <p:spPr>
          <a:xfrm>
            <a:off x="228600" y="751438"/>
            <a:ext cx="8686800" cy="5573162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000000"/>
                </a:solidFill>
              </a:rPr>
              <a:t>Bimodal</a:t>
            </a:r>
            <a:r>
              <a:rPr lang="en-US" sz="2000" dirty="0" err="1">
                <a:solidFill>
                  <a:srgbClr val="000000"/>
                </a:solidFill>
              </a:rPr>
              <a:t>.H</a:t>
            </a:r>
            <a:endParaRPr lang="en-US" sz="2000" dirty="0">
              <a:solidFill>
                <a:srgbClr val="000000"/>
              </a:solidFill>
            </a:endParaRPr>
          </a:p>
          <a:p>
            <a:r>
              <a:rPr lang="en-US" sz="2000" dirty="0">
                <a:solidFill>
                  <a:srgbClr val="000000"/>
                </a:solidFill>
              </a:rPr>
              <a:t>Not a solution to this project, just a sample for you to learn.</a:t>
            </a:r>
          </a:p>
          <a:p>
            <a:r>
              <a:rPr lang="en-US" sz="2000" dirty="0">
                <a:solidFill>
                  <a:srgbClr val="000000"/>
                </a:solidFill>
              </a:rPr>
              <a:t>You need to modify this code to fit the design requirement of bimodal predictor.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1AEE20-7BF2-91AA-C631-0631008A1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299" y="2018922"/>
            <a:ext cx="4802101" cy="372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524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4FA12-A389-B19B-7374-AF997A19E92C}"/>
              </a:ext>
            </a:extLst>
          </p:cNvPr>
          <p:cNvSpPr txBox="1">
            <a:spLocks/>
          </p:cNvSpPr>
          <p:nvPr/>
        </p:nvSpPr>
        <p:spPr>
          <a:xfrm>
            <a:off x="152400" y="152400"/>
            <a:ext cx="6858000" cy="762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DF066-ADE9-E6AB-EB95-7DA815084303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8686800" cy="541020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>
                <a:solidFill>
                  <a:srgbClr val="000000"/>
                </a:solidFill>
                <a:ea typeface="굴림" pitchFamily="50" charset="-127"/>
              </a:rPr>
              <a:t>Bimodal</a:t>
            </a:r>
            <a:endParaRPr lang="en-US" sz="2000" dirty="0">
              <a:solidFill>
                <a:srgbClr val="000000"/>
              </a:solidFill>
            </a:endParaRPr>
          </a:p>
          <a:p>
            <a:endParaRPr lang="en-US" sz="2000" dirty="0">
              <a:solidFill>
                <a:srgbClr val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9D3024-EF43-C5CB-23A2-21203F9B4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780235"/>
            <a:ext cx="5257800" cy="48975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A3FE96-6AA2-B988-A31E-BB3AC1754F2C}"/>
              </a:ext>
            </a:extLst>
          </p:cNvPr>
          <p:cNvSpPr txBox="1"/>
          <p:nvPr/>
        </p:nvSpPr>
        <p:spPr>
          <a:xfrm>
            <a:off x="7086600" y="2905848"/>
            <a:ext cx="21019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correct prediction,</a:t>
            </a:r>
          </a:p>
          <a:p>
            <a:r>
              <a:rPr lang="en-US" dirty="0"/>
              <a:t>Predicts+1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D7300F-EAF4-55B0-9002-DC891DCA8632}"/>
              </a:ext>
            </a:extLst>
          </p:cNvPr>
          <p:cNvSpPr txBox="1"/>
          <p:nvPr/>
        </p:nvSpPr>
        <p:spPr>
          <a:xfrm>
            <a:off x="7086600" y="4473060"/>
            <a:ext cx="1527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SBP updates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73E37A0-E460-6CF6-7623-8FA5B9B024EC}"/>
              </a:ext>
            </a:extLst>
          </p:cNvPr>
          <p:cNvSpPr/>
          <p:nvPr/>
        </p:nvSpPr>
        <p:spPr>
          <a:xfrm>
            <a:off x="2057400" y="2860894"/>
            <a:ext cx="3962400" cy="683773"/>
          </a:xfrm>
          <a:prstGeom prst="roundRect">
            <a:avLst/>
          </a:prstGeom>
          <a:noFill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C3B5A56-4583-A6BF-ED16-CE278A0D8865}"/>
              </a:ext>
            </a:extLst>
          </p:cNvPr>
          <p:cNvSpPr/>
          <p:nvPr/>
        </p:nvSpPr>
        <p:spPr>
          <a:xfrm>
            <a:off x="2057400" y="3715044"/>
            <a:ext cx="3886200" cy="1770835"/>
          </a:xfrm>
          <a:prstGeom prst="roundRect">
            <a:avLst/>
          </a:prstGeom>
          <a:noFill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529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7B7D4-5FEC-B721-17CA-88FF7F00B7DE}"/>
              </a:ext>
            </a:extLst>
          </p:cNvPr>
          <p:cNvSpPr txBox="1">
            <a:spLocks/>
          </p:cNvSpPr>
          <p:nvPr/>
        </p:nvSpPr>
        <p:spPr>
          <a:xfrm>
            <a:off x="152400" y="152400"/>
            <a:ext cx="6858000" cy="762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CCFE8-860F-46D8-15CF-D1E1186510E5}"/>
              </a:ext>
            </a:extLst>
          </p:cNvPr>
          <p:cNvSpPr txBox="1">
            <a:spLocks/>
          </p:cNvSpPr>
          <p:nvPr/>
        </p:nvSpPr>
        <p:spPr>
          <a:xfrm>
            <a:off x="228600" y="723900"/>
            <a:ext cx="8686800" cy="541020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rgbClr val="000000"/>
                </a:solidFill>
                <a:ea typeface="굴림" pitchFamily="50" charset="-127"/>
              </a:rPr>
              <a:t>Bpred.cpp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  <a:ea typeface="굴림" pitchFamily="50" charset="-127"/>
              </a:rPr>
              <a:t>You need to modify this file to generate the final report with all results</a:t>
            </a:r>
            <a:endParaRPr lang="en-US" sz="2000" dirty="0">
              <a:solidFill>
                <a:srgbClr val="000000"/>
              </a:solidFill>
            </a:endParaRPr>
          </a:p>
          <a:p>
            <a:endParaRPr lang="en-US" sz="2400" dirty="0">
              <a:solidFill>
                <a:srgbClr val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E27D96-C695-4FC9-08FC-D6A9E96EE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709" y="1538937"/>
            <a:ext cx="5241956" cy="4274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164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9951C-DC2B-0544-DA81-E19C405C5F06}"/>
              </a:ext>
            </a:extLst>
          </p:cNvPr>
          <p:cNvSpPr txBox="1">
            <a:spLocks/>
          </p:cNvSpPr>
          <p:nvPr/>
        </p:nvSpPr>
        <p:spPr>
          <a:xfrm>
            <a:off x="152400" y="152400"/>
            <a:ext cx="6858000" cy="762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/>
              <a:t>S</a:t>
            </a:r>
            <a:r>
              <a:rPr lang="en-US" altLang="zh-CN" sz="3200" dirty="0"/>
              <a:t>ubmission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4D778-5731-225E-98EB-2BA94DDE7E05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8686800" cy="541020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000000"/>
                </a:solidFill>
              </a:rPr>
              <a:t>Report with screenshot</a:t>
            </a:r>
          </a:p>
          <a:p>
            <a:r>
              <a:rPr lang="en-US" sz="2400" dirty="0">
                <a:solidFill>
                  <a:srgbClr val="000000"/>
                </a:solidFill>
              </a:rPr>
              <a:t>Codes: the colored files require your modification/implementation</a:t>
            </a:r>
          </a:p>
          <a:p>
            <a:pPr lvl="1"/>
            <a:r>
              <a:rPr lang="en-US" sz="2000" dirty="0" err="1">
                <a:solidFill>
                  <a:srgbClr val="000000"/>
                </a:solidFill>
              </a:rPr>
              <a:t>makefile.rules</a:t>
            </a:r>
            <a:endParaRPr lang="en-US" sz="2000" dirty="0">
              <a:solidFill>
                <a:srgbClr val="000000"/>
              </a:solidFill>
            </a:endParaRPr>
          </a:p>
          <a:p>
            <a:pPr lvl="1"/>
            <a:r>
              <a:rPr lang="en-US" sz="2000" b="1" dirty="0" err="1">
                <a:solidFill>
                  <a:srgbClr val="000000"/>
                </a:solidFill>
              </a:rPr>
              <a:t>makefile</a:t>
            </a:r>
            <a:endParaRPr lang="en-US" sz="2000" b="1" dirty="0">
              <a:solidFill>
                <a:srgbClr val="000000"/>
              </a:solidFill>
            </a:endParaRPr>
          </a:p>
          <a:p>
            <a:pPr lvl="1"/>
            <a:r>
              <a:rPr lang="en-US" sz="2000" b="1" dirty="0">
                <a:solidFill>
                  <a:srgbClr val="FF0000"/>
                </a:solidFill>
              </a:rPr>
              <a:t>bpred.cpp</a:t>
            </a:r>
          </a:p>
          <a:p>
            <a:pPr lvl="1"/>
            <a:r>
              <a:rPr lang="en-US" sz="2000" b="1" dirty="0" err="1">
                <a:solidFill>
                  <a:srgbClr val="FF0000"/>
                </a:solidFill>
              </a:rPr>
              <a:t>bimodal.H</a:t>
            </a:r>
            <a:endParaRPr lang="en-US" sz="2000" b="1" dirty="0">
              <a:solidFill>
                <a:srgbClr val="FF0000"/>
              </a:solidFill>
            </a:endParaRPr>
          </a:p>
          <a:p>
            <a:pPr lvl="1"/>
            <a:r>
              <a:rPr lang="en-US" sz="2000" b="1" dirty="0">
                <a:solidFill>
                  <a:srgbClr val="FF0000"/>
                </a:solidFill>
              </a:rPr>
              <a:t>.H files that has your implementation of other branch predictors</a:t>
            </a:r>
          </a:p>
          <a:p>
            <a:pPr lvl="1"/>
            <a:endParaRPr lang="en-US" sz="2000" dirty="0">
              <a:solidFill>
                <a:srgbClr val="000000"/>
              </a:solidFill>
            </a:endParaRPr>
          </a:p>
          <a:p>
            <a:r>
              <a:rPr lang="en-US" sz="2400" dirty="0">
                <a:solidFill>
                  <a:srgbClr val="000000"/>
                </a:solidFill>
              </a:rPr>
              <a:t>Submit in one tar file to DEN</a:t>
            </a:r>
          </a:p>
          <a:p>
            <a:endParaRPr lang="en-US" sz="2400" dirty="0">
              <a:solidFill>
                <a:srgbClr val="000000"/>
              </a:solidFill>
            </a:endParaRPr>
          </a:p>
          <a:p>
            <a:endParaRPr lang="en-US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0006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>
            <a:extLst>
              <a:ext uri="{FF2B5EF4-FFF2-40B4-BE49-F238E27FC236}">
                <a16:creationId xmlns:a16="http://schemas.microsoft.com/office/drawing/2014/main" id="{BDD13C21-2508-7EAD-6861-A92CDFC2CC57}"/>
              </a:ext>
            </a:extLst>
          </p:cNvPr>
          <p:cNvSpPr txBox="1"/>
          <p:nvPr/>
        </p:nvSpPr>
        <p:spPr>
          <a:xfrm>
            <a:off x="3544820" y="2626226"/>
            <a:ext cx="2054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altLang="zh-CN" sz="2400" b="1" dirty="0">
                <a:latin typeface="Arial"/>
                <a:cs typeface="Arial"/>
              </a:rPr>
              <a:t>Thank you!</a:t>
            </a:r>
            <a:endParaRPr lang="en-US" sz="2400" b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45732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3">
      <a:dk1>
        <a:srgbClr val="99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Viterbi_R1</Template>
  <TotalTime>1765</TotalTime>
  <Words>458</Words>
  <Application>Microsoft Macintosh PowerPoint</Application>
  <PresentationFormat>On-screen Show (4:3)</PresentationFormat>
  <Paragraphs>69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굴림</vt:lpstr>
      <vt:lpstr>Arial</vt:lpstr>
      <vt:lpstr>Calibri</vt:lpstr>
      <vt:lpstr>Cambria Math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You Wu</dc:creator>
  <cp:lastModifiedBy>Jonghyun Lee</cp:lastModifiedBy>
  <cp:revision>91</cp:revision>
  <cp:lastPrinted>2012-02-07T18:57:58Z</cp:lastPrinted>
  <dcterms:created xsi:type="dcterms:W3CDTF">2021-08-26T07:39:41Z</dcterms:created>
  <dcterms:modified xsi:type="dcterms:W3CDTF">2026-01-30T07:11:46Z</dcterms:modified>
</cp:coreProperties>
</file>